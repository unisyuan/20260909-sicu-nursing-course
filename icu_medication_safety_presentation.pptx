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  <Relationship Id="rId24" Type="http://schemas.openxmlformats.org/officeDocument/2006/relationships/slide" Target="slides/slide22.xml"/>
  <Relationship Id="rId25" Type="http://schemas.openxmlformats.org/officeDocument/2006/relationships/slide" Target="slides/slide23.xml"/>
  <Relationship Id="rId26" Type="http://schemas.openxmlformats.org/officeDocument/2006/relationships/slide" Target="slides/slide24.xml"/>
  <Relationship Id="rId27" Type="http://schemas.openxmlformats.org/officeDocument/2006/relationships/slide" Target="slides/slide25.xml"/>
  <Relationship Id="rId28" Type="http://schemas.openxmlformats.org/officeDocument/2006/relationships/slide" Target="slides/slide26.xml"/>
  <Relationship Id="rId29" Type="http://schemas.openxmlformats.org/officeDocument/2006/relationships/slide" Target="slides/slide27.xml"/>
  <Relationship Id="rId30" Type="http://schemas.openxmlformats.org/officeDocument/2006/relationships/slide" Target="slides/slide28.xml"/>
  <Relationship Id="rId31" Type="http://schemas.openxmlformats.org/officeDocument/2006/relationships/slide" Target="slides/slide29.xml"/>
  <Relationship Id="rId32" Type="http://schemas.openxmlformats.org/officeDocument/2006/relationships/slide" Target="slides/slide30.xml"/>
  <Relationship Id="rId33" Type="http://schemas.openxmlformats.org/officeDocument/2006/relationships/slide" Target="slides/slide31.xml"/>
  <Relationship Id="rId34" Type="http://schemas.openxmlformats.org/officeDocument/2006/relationships/slide" Target="slides/slide32.xml"/>
  <Relationship Id="rId35" Type="http://schemas.openxmlformats.org/officeDocument/2006/relationships/slide" Target="slides/slide33.xml"/>
  <Relationship Id="rId36" Type="http://schemas.openxmlformats.org/officeDocument/2006/relationships/slide" Target="slides/slide34.xml"/>
  <Relationship Id="rId37" Type="http://schemas.openxmlformats.org/officeDocument/2006/relationships/slide" Target="slides/slide35.xml"/>
  <Relationship Id="rId38" Type="http://schemas.openxmlformats.org/officeDocument/2006/relationships/slide" Target="slides/slide36.xml"/>
  <Relationship Id="rId39" Type="http://schemas.openxmlformats.org/officeDocument/2006/relationships/slide" Target="slides/slide37.xml"/>
  <Relationship Id="rId40" Type="http://schemas.openxmlformats.org/officeDocument/2006/relationships/slide" Target="slides/slide38.xml"/>
  <Relationship Id="rId41" Type="http://schemas.openxmlformats.org/officeDocument/2006/relationships/slide" Target="slides/slide39.xml"/>
  <Relationship Id="rId42" Type="http://schemas.openxmlformats.org/officeDocument/2006/relationships/slide" Target="slides/slide40.xml"/>
  <Relationship Id="rId43" Type="http://schemas.openxmlformats.org/officeDocument/2006/relationships/slide" Target="slides/slide41.xml"/>
  <Relationship Id="rId44" Type="http://schemas.openxmlformats.org/officeDocument/2006/relationships/slide" Target="slides/slide42.xml"/>
  <Relationship Id="rId45" Type="http://schemas.openxmlformats.org/officeDocument/2006/relationships/slide" Target="slides/slide43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Box -->
      <p:sp>
        <p:nvSpPr>
          <p:cNvPr id="2" name="Tag"/>
          <p:cNvSpPr txBox="1"/>
          <p:nvPr/>
        </p:nvSpPr>
        <p:spPr>
          <a:xfrm>
            <a:off x="800000" y="900000"/>
            <a:ext cx="10592000" cy="500000"/>
          </a:xfrm>
        </p:spPr>
        <p:txBody>
          <a:bodyPr/>
          <a:lstStyle/>
          <a:p>
            <a:r>
              <a:rPr lang="zh-TW" sz="1600" b="1">
                <a:solidFill>
                  <a:srgbClr val="0284C7"/>
                </a:solidFill>
              </a:rPr>
              <a:t>● ICU MEDICATION SAFETY</a:t>
            </a:r>
          </a:p>
        </p:txBody>
      </p:sp>
      <!-- Title Box -->
      <p:sp>
        <p:nvSpPr>
          <p:cNvPr id="3" name="Title"/>
          <p:cNvSpPr txBox="1"/>
          <p:nvPr/>
        </p:nvSpPr>
        <p:spPr>
          <a:xfrm>
            <a:off x="800000" y="1500000"/>
            <a:ext cx="10592000" cy="2400000"/>
          </a:xfrm>
        </p:spPr>
        <p:txBody>
          <a:bodyPr/>
          <a:lstStyle/>
          <a:p>
            <a:r>
              <a:rPr lang="zh-TW" sz="4400" b="1">
                <a:solidFill>
                  <a:srgbClr val="0F172A"/>
                </a:solidFill>
              </a:rPr>
              <a:t>加護病房常用藥物與高風險不良反應</a:t>
            </a:r>
          </a:p>
          <a:p>
            <a:r>
              <a:rPr lang="zh-TW" sz="2400" b="1">
                <a:solidFill>
                  <a:srgbClr val="334155"/>
                </a:solidFill>
              </a:rPr>
              <a:t>從給藥到床邊監測：護理人員需要辨識的藥物警訊</a:t>
            </a:r>
          </a:p>
        </p:txBody>
      </p:sp>
      <!-- Meta Box -->
      <p:sp>
        <p:nvSpPr>
          <p:cNvPr id="4" name="Meta"/>
          <p:cNvSpPr txBox="1"/>
          <p:nvPr/>
        </p:nvSpPr>
        <p:spPr>
          <a:xfrm>
            <a:off x="800000" y="4300000"/>
            <a:ext cx="10592000" cy="800000"/>
          </a:xfrm>
        </p:spPr>
        <p:txBody>
          <a:bodyPr/>
          <a:lstStyle/>
          <a:p>
            <a:r>
              <a:rPr lang="zh-TW" sz="2000" b="1">
                <a:solidFill>
                  <a:srgbClr val="0369A1"/>
                </a:solidFill>
              </a:rPr>
              <a:t>李芸瑄 藥師 • 2026.09.09 • 43頁 / 60分鐘完整培訓</a:t>
            </a:r>
          </a:p>
        </p:txBody>
      </p:sp>
      <!-- Core Message Banner -->
      <p:sp>
        <p:nvSpPr>
          <p:cNvPr id="5" name="Core"/>
          <p:cNvSpPr/>
          <p:nvPr/>
        </p:nvSpPr>
        <p:spPr>
          <a:xfrm>
            <a:off x="800000" y="5300000"/>
            <a:ext cx="10592000" cy="800000"/>
          </a:xfrm>
          <a:prstGeom prst="roundRect">
            <a:avLst>
              <a:gd name="adj" fmla="val 20000"/>
            </a:avLst>
          </a:prstGeom>
          <a:solidFill>
            <a:srgbClr val="F0F9FF"/>
          </a:solidFill>
          <a:ln w="25400">
            <a:solidFill>
              <a:srgbClr val="0284C7"/>
            </a:solidFill>
          </a:ln>
        </p:spPr>
        <p:txBody>
          <a:bodyPr anchor="ctr"/>
          <a:lstStyle/>
          <a:p>
            <a:pPr algn="ctr"/>
            <a:r>
              <a:rPr lang="zh-TW" sz="2000" b="1">
                <a:solidFill>
                  <a:srgbClr val="0369A1"/>
                </a:solidFill>
              </a:rPr>
              <a:t>課程主軸：為什麼給？給完看什麼？什麼情況要立即回報？</a:t>
            </a:r>
          </a:p>
        </p:txBody>
      </p:sp>
    </p:spTree>
  </p:cSld>
  <p:clrMapOvr>
    <a:masterClrMap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第一部分｜開場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2｜學習目標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000" b="0">
                <a:solidFill>
                  <a:srgbClr val="1E293B"/>
                </a:solidFill>
              </a:rPr>
              <a:t>課程結束後，學員能夠：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1. 依治療目的辨認ICU常用藥物類別與主要用途。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2. 說出各類高風險藥物給藥後的床邊監測重點。</a:t>
            </a:r>
          </a:p>
          <a:p>
            <a:pPr marL="288000" indent="-288000" spaceBefore="60000" spaceAfter="60000"/>
            <a:r>
              <a:rPr lang="zh-TW" sz="2000" b="0">
                <a:solidFill>
                  <a:srgbClr val="1E293B"/>
                </a:solidFill>
              </a:rPr>
              <a:t>3. 辨識凝血異常、QT延長及嚴重皮膚／過敏反應。</a:t>
            </a:r>
          </a:p>
          <a:p>
            <a:pPr marL="288000" indent="-288000" spaceBefore="60000" spaceAfter="60000"/>
            <a:r>
              <a:rPr lang="zh-TW" sz="2000" b="0">
                <a:solidFill>
                  <a:srgbClr val="B91C1C"/>
                </a:solidFill>
              </a:rPr>
              <a:t>4. 發現異常時，完成暫停評估、確認用藥、立即回報與初步處置。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2 / 43</a:t>
            </a:r>
          </a:p>
        </p:txBody>
      </p:sp>
    </p:spTree>
  </p:cSld>
  <p:clrMapOvr>
    <a:masterClrMap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第一部分｜開場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3｜ICU藥物安全：護理人員的重要角色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【藥物安全流程】給藥 → 監測 → 發現變化 → 確認可能藥物 → 回報與處理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【床邊 8 大常見警訊】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血壓突然下降    • 心率明顯過快或過慢    • 尿量下降    • 意識或呼吸改變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QTc延長        • 血小板快速下降        • 不明原因出血 • 新發紅疹或黏膜病灶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【核心訊息】護理人員往往是最早發現藥物不良反應的人！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3 / 43</a:t>
            </a:r>
          </a:p>
        </p:txBody>
      </p:sp>
    </p:spTree>
  </p:cSld>
  <p:clrMapOvr>
    <a:masterClrMap/>
  </p:clrMapOvr>
</p:sld>
</file>

<file path=ppt/slides/slide4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bg><p:bgPr><a:solidFill><a:srgbClr val="F8FAFC"/></a:solidFill></p:bgPr></p:bg>
    <p:spTree>
      <p:nvGrpSpPr><p:cNvPr id="1" name=""/><p:cNvGrpSpPr/><p:nvPr/></p:nvGrpSpPr>
      <p:grpSpPr><a:xfrm><a:off x="0" y="0"/><a:ext cx="0" cy="0"/><a:chOff x="0" y="0"/><a:chExt cx="0" cy="0"/></a:xfrm></p:grpSpPr>
      
      <!-- Tag Badge -->
      <p:sp>
        <p:nvSpPr><p:cNvPr id="2" name="PartBadge"/><p:cNvSpPr/><p:nvPr/></p:nvSpPr>
        <p:spPr>
          <a:xfrm><a:off x="3896000" y="1400000"/><a:ext cx="4400000" cy="650000"/></a:xfrm></p:spPr>
          <a:prstGeom prst="roundRect"><a:avLst><a:gd name="adj" fmla="val 25000"/></a:avLst></a:prstGeom>
          <a:solidFill><a:srgbClr val="E0F2FE"/></a:solidFill>
          <a:ln w="19050"><a:solidFill><a:srgbClr val="0284C7"/></a:solidFill></a:ln>
        </p:spPr>
        <p:txBody><a:bodyPr anchor="ctr"/><a:lstStyle/><a:p><a:pPr algn="ctr"/><a:r><a:rPr lang="zh-TW" sz="1800" b="1"><a:solidFill><a:srgbClr val="0369A1"/></a:solidFill></a:rPr><a:t>PART 1</a:t></a:r></a:p></p:txBody>
      </p:sp>

      <!-- Main Title -->
      <p:sp>
        <p:nvSpPr><p:cNvPr id="3" name="Title"/><p:cNvSpPr txBox="1"/><p:nvPr/></p:nvSpPr>
        <p:spPr><a:xfrm><a:off x="800000" y="2300000"/><a:ext cx="10592000" cy="1500000"/></a:xfrm></p:spPr>
        <p:txBody><a:bodyPr/><a:lstStyle/><a:p><a:pPr algn="ctr"/><a:r><a:rPr lang="zh-TW" sz="4200" b="1"><a:solidFill><a:srgbClr val="0F172A"/></a:solidFill></a:rPr><a:t>血流動力學藥物</a:t></a:r></a:p></p:txBody>
      </p:sp>

      <!-- Quote Box -->
      <p:sp>
        <p:nvSpPr><p:cNvPr id="4" name="Quote"/><p:cNvSpPr/><p:nvPr/></p:nvSpPr>
        <p:spPr>
          <a:xfrm><a:off x="1400000" y="4100000"/><a:ext cx="9392000" cy="1400000"/></a:xfrm></p:spPr>
          <a:prstGeom prst="roundRect"><a:avLst><a:gd name="adj" fmla="val 15000"/></a:avLst></a:prstGeom>
          <a:solidFill><a:srgbClr val="FFFFFF"/></a:solidFill>
          <a:ln w="25400"><a:solidFill><a:srgbClr val="0284C7"/></a:solidFill></a:ln>
        </p:spPr>
        <p:txBody><a:bodyPr anchor="ctr"/><a:lstStyle/><a:p><a:pPr algn="ctr"/><a:r><a:rPr lang="zh-TW" sz="2400" b="1"><a:solidFill><a:srgbClr val="0369A1"/></a:solidFill></a:rPr><a:t>「血壓只是數字，真正的治療目標是恢復器官灌流。」</a:t></a:r></a:p></p:txBody>
      </p:sp>
    </p:spTree>
  </p:cSld>
  <p:clrMapOvr><a:masterClrMap/>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1｜血流動力學藥物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5｜Vasopressor與Inotrope有什麼不同？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【升壓劑（Vasopressor）】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主要目標：增加血管張力、提升平均動脈壓、維持器官灌流。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代表藥物：Norepinephrine、Epinephrine、Vasopressin、Dopamine。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【強心劑（Inotrope）】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主要目標：增加心肌收縮力、提升心輸出量、改善低心輸出造成的低灌流。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代表藥物：Dobutamine、Milrinone。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【核心提醒】升壓劑與強心劑可能同時使用，但治療目的不同！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5 / 43</a:t>
            </a:r>
          </a:p>
        </p:txBody>
      </p:sp>
    </p:spTree>
  </p:cSld>
  <p:clrMapOvr>
    <a:masterClrMap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1｜血流動力學藥物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6｜常用升壓劑比較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Norepinephrine：以α1作用為主｜敗血性休克第一線｜周邊缺血、心律不整。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Epinephrine：α及β作用｜心跳停止、過敏性休克、難治性休克｜心搏過速、心律不整、乳酸上升。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Vasopressin：V1受體作用｜作為Norepinephrine輔助藥物｜手指、腸道或皮膚缺血。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Dopamine：劑量相關受體作用｜特定心搏過慢合併低血壓情境｜心搏過速、心律不整。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【三大提醒】① NE 為敗血休克第一線；② 開始給藥前必須先矯正血容積不足；③ 原則由中央靜脈導管給藥避免外滲壞死。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6 / 43</a:t>
            </a:r>
          </a:p>
        </p:txBody>
      </p:sp>
    </p:spTree>
  </p:cSld>
  <p:clrMapOvr>
    <a:masterClrMap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1｜血流動力學藥物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7｜使用升壓劑，不是只看血壓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【7 大監測項目】平均動脈壓(MAP)、心率與心律、意識狀態、尿量、四肢溫度與膚色、微血管回填時間(CRT)、乳酸變化趨勢。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【6 大立即回報警訊】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四肢冰冷、蒼白或發紺    • 尿量持續下降    • 意識惡化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乳酸持續上升            • 新發心律不整    • 血壓過高或過低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【核心訊息】血壓升高，不代表器官灌流一定改善！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7 / 43</a:t>
            </a:r>
          </a:p>
        </p:txBody>
      </p:sp>
    </p:spTree>
  </p:cSld>
  <p:clrMapOvr>
    <a:masterClrMap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1｜血流動力學藥物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8｜周邊靜脈使用升壓劑與外滲處理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【使用原則】中心靜脈尚未建立時，可由清楚觀察、血流良好之周邊靜脈短期開始，不應等待 CVC 延誤治療。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【輸注部位監測】疼痛或灼熱感、腫脹、皮膚蒼白、局部冰冷、滴注不順、回血異常、周邊灌流變差。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【疑似外滲 5 步驟 SOP】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1. 立即停止輸注。    2. 暫時保留原管路。    3. 評估抽吸殘留藥物。</a:t>
            </a:r>
          </a:p>
          <a:p>
            <a:pPr marL="288000" indent="-288000" spaceBefore="60000" spaceAfter="60000"/>
            <a:r>
              <a:rPr lang="zh-TW" sz="2000" b="0">
                <a:solidFill>
                  <a:srgbClr val="1E293B"/>
                </a:solidFill>
              </a:rPr>
              <a:t>4. 抬高患肢，局部熱敷（不可冰敷）。         5. 通知醫師（評估 Phentolamine 解毒）。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8 / 43</a:t>
            </a:r>
          </a:p>
        </p:txBody>
      </p:sp>
    </p:spTree>
  </p:cSld>
  <p:clrMapOvr>
    <a:masterClrMap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1｜血流動力學藥物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9｜Dobutamine與Milrinone比較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Dobutamine：β1受體為主｜增心肌收縮力與心輸出量｜心搏過速/心律不整/降血壓｜非主要腎排｜起效快易調，受β-blocker減弱。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Milrinone：PDE-3抑制劑｜增收縮力並擴血管(Inodilator)｜血壓下降/心律不整｜腎不全可能蓄積｜半衰期長調整消退慢。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【使用前 4 項確認】</a:t>
            </a:r>
          </a:p>
          <a:p>
            <a:pPr marL="288000" indent="-288000" spaceBefore="60000" spaceAfter="60000"/>
            <a:r>
              <a:rPr lang="zh-TW" sz="2000" b="0">
                <a:solidFill>
                  <a:srgbClr val="1E293B"/>
                </a:solidFill>
              </a:rPr>
              <a:t>① 血容量是否適當？    ② 血壓是否足以耐受？</a:t>
            </a:r>
          </a:p>
          <a:p>
            <a:pPr marL="288000" indent="-288000" spaceBefore="60000" spaceAfter="60000"/>
            <a:r>
              <a:rPr lang="zh-TW" sz="2000" b="0">
                <a:solidFill>
                  <a:srgbClr val="1E293B"/>
                </a:solidFill>
              </a:rPr>
              <a:t>③ 是否有持續低心輸出或低灌流？    ④ 心率、心律及腎功能為何？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9 / 43</a:t>
            </a:r>
          </a:p>
        </p:txBody>
      </p:sp>
    </p:spTree>
  </p:cSld>
  <p:clrMapOvr>
    <a:masterClrMap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1｜血流動力學藥物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10｜ICU常用降壓／血管擴張劑比較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Nicardipine：可滴定的靜脈降壓首選｜副作用：血壓過低、反射性心搏過速｜監測：血壓、心率、意識與尿量。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Labetalol：α1及β受體阻斷｜副作用：心搏過慢、房室傳導阻滯、支氣管痙攣｜監測：心率、心電傳導與呼吸音。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Nitroglycerin：急性冠心症、肺水腫等特定情境｜副作用：血壓過低、頭痛、反射性心搏過速｜監測：血壓、胸痛、呼吸與頭痛。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10 / 43</a:t>
            </a:r>
          </a:p>
        </p:txBody>
      </p:sp>
    </p:spTree>
  </p:cSld>
  <p:clrMapOvr>
    <a:masterClrMap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1｜血流動力學藥物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11｜安全降壓：給藥前後看什麼？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【降壓目標依疾病個別設定】主動脈剝離、腦出血/中風、ACS、肺水腫、高血壓急症。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【Labetalol 給藥前確認】心率（HR &lt; 60 禁忌）、PR延長/AV block、氣喘病史、血壓及灌流。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【Nitroglycerin 給藥前確認】是否使用 PDE-5 抑制劑（威而鋼）、是否可能為右心室梗塞、前負荷依賴狀態。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【立即回報警訊】血壓明顯下降、心跳過慢、新發傳導異常、喘鳴或呼吸困難、意識或尿量惡化。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11 / 43</a:t>
            </a:r>
          </a:p>
        </p:txBody>
      </p:sp>
    </p:spTree>
  </p:cSld>
  <p:clrMapOvr>
    <a:masterClrMap/>
  </p:clrMapOvr>
</p:sld>
</file>

<file path=ppt/slides/slide12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bg><p:bgPr><a:solidFill><a:srgbClr val="F8FAFC"/></a:solidFill></p:bgPr></p:bg>
    <p:spTree>
      <p:nvGrpSpPr><p:cNvPr id="1" name=""/><p:cNvGrpSpPr/><p:nvPr/></p:nvGrpSpPr>
      <p:grpSpPr><a:xfrm><a:off x="0" y="0"/><a:ext cx="0" cy="0"/><a:chOff x="0" y="0"/><a:chExt cx="0" cy="0"/></a:xfrm></p:grpSpPr>
      
      <!-- Tag Badge -->
      <p:sp>
        <p:nvSpPr><p:cNvPr id="2" name="PartBadge"/><p:cNvSpPr/><p:nvPr/></p:nvSpPr>
        <p:spPr>
          <a:xfrm><a:off x="3896000" y="1400000"/><a:ext cx="4400000" cy="650000"/></a:xfrm></p:spPr>
          <a:prstGeom prst="roundRect"><a:avLst><a:gd name="adj" fmla="val 25000"/></a:avLst></a:prstGeom>
          <a:solidFill><a:srgbClr val="E0F2FE"/></a:solidFill>
          <a:ln w="19050"><a:solidFill><a:srgbClr val="0284C7"/></a:solidFill></a:ln>
        </p:spPr>
        <p:txBody><a:bodyPr anchor="ctr"/><a:lstStyle/><a:p><a:pPr algn="ctr"/><a:r><a:rPr lang="zh-TW" sz="1800" b="1"><a:solidFill><a:srgbClr val="0369A1"/></a:solidFill></a:rPr><a:t>PART 2</a:t></a:r></a:p></p:txBody>
      </p:sp>

      <!-- Main Title -->
      <p:sp>
        <p:nvSpPr><p:cNvPr id="3" name="Title"/><p:cNvSpPr txBox="1"/><p:nvPr/></p:nvSpPr>
        <p:spPr><a:xfrm><a:off x="800000" y="2300000"/><a:ext cx="10592000" cy="1500000"/></a:xfrm></p:spPr>
        <p:txBody><a:bodyPr/><a:lstStyle/><a:p><a:pPr algn="ctr"/><a:r><a:rPr lang="zh-TW" sz="4200" b="1"><a:solidFill><a:srgbClr val="0F172A"/></a:solidFill></a:rPr><a:t>ACLS 與心律不整用藥</a:t></a:r></a:p></p:txBody>
      </p:sp>

      <!-- Quote Box -->
      <p:sp>
        <p:nvSpPr><p:cNvPr id="4" name="Quote"/><p:cNvSpPr/><p:nvPr/></p:nvSpPr>
        <p:spPr>
          <a:xfrm><a:off x="1400000" y="4100000"/><a:ext cx="9392000" cy="1400000"/></a:xfrm></p:spPr>
          <a:prstGeom prst="roundRect"><a:avLst><a:gd name="adj" fmla="val 15000"/></a:avLst></a:prstGeom>
          <a:solidFill><a:srgbClr val="FFFFFF"/></a:solidFill>
          <a:ln w="25400"><a:solidFill><a:srgbClr val="0284C7"/></a:solidFill></a:ln>
        </p:spPr>
        <p:txBody><a:bodyPr anchor="ctr"/><a:lstStyle/><a:p><a:pPr algn="ctr"/><a:r><a:rPr lang="zh-TW" sz="2400" b="1"><a:solidFill><a:srgbClr val="0369A1"/></a:solidFill></a:rPr><a:t>「心跳太快、太慢或停止，用藥選擇取決於心律與血流動力學狀態。」</a:t></a:r></a:p></p:txBody>
      </p:sp>
    </p:spTree>
  </p:cSld>
  <p:clrMapOvr><a:masterClrMap/>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2｜ACLS與心律不整用藥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13｜先判斷穩定度，再依心律選擇處置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心搏過慢：Atropine。無效時考慮經皮心律調節(TCP)、Dopamine或Epinephrine持續輸注。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規則窄QRS心搏過速：迷走神經刺激法、Adenosine。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不穩定心搏過速：優先同步電復律！不應為了嘗試藥物而延誤電復律！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【改良式Valsalva操作 6 步驟（僅適用穩定規則窄QRS）】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1. 半坐臥姿勢 → 2. 吹針筒15秒 → 3. 改平躺 → 4. 雙腿抬高45度15秒 → 5. 回半坐臥觀察45秒 → 6. 全程監測ECG/血壓。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13 / 43</a:t>
            </a:r>
          </a:p>
        </p:txBody>
      </p:sp>
    </p:spTree>
  </p:cSld>
  <p:clrMapOvr>
    <a:masterClrMap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2｜ACLS與心律不整用藥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14｜Atropine、Adenosine與Isoproterenol定位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Atropine：有症狀心搏過慢第一線｜無效時不應延誤心律調節或升壓藥物。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Adenosine：規則窄QRS心搏過速主力｜快速推注，會出現短暫房室傳導阻滯。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Isoproterenol：特定情境暫時增加心率｜並非常規ACLS心搏過慢第二線用藥！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【Isoproterenol 風險】心搏過速、心律不整、心肌耗氧增加、胸痛、心肌缺血或血壓下降。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14 / 43</a:t>
            </a:r>
          </a:p>
        </p:txBody>
      </p:sp>
    </p:spTree>
  </p:cSld>
  <p:clrMapOvr>
    <a:masterClrMap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2｜ACLS與心律不整用藥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15｜Adenosine：給藥方法與常見反應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適用：規則窄QRS心搏過速；單型寬QRS鑑別情境。不適用：不規則/多型性寬QRS心搏過速。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給藥方法：由靠近中心循環大靜脈快速推注(1-2秒) → 立即快速沖入 20mL 生理食鹽水 → 全程 ECG 記錄。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常見反應：臉部潮紅、胸悶/壓迫感、呼吸不適、頭暈、短暫心搏過慢、短暫房室傳導阻滯或心搏停止。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【重要提醒】數秒短暫心搏停止（Asystole）為預期電氣重置作用，但仍須確認心律及時恢復！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15 / 43</a:t>
            </a:r>
          </a:p>
        </p:txBody>
      </p:sp>
    </p:spTree>
  </p:cSld>
  <p:clrMapOvr>
    <a:masterClrMap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2｜ACLS與心律不整用藥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16｜Amiodarone與Lidocaine比較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Amiodarone：VT/VF及心房心律不整｜副作用：低血壓、心搏過慢、傳導阻滯、QT延長、靜脈炎｜長期甲狀腺/肺/肝毒性｜合併低鉀低鎂易致 TdP。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Lidocaine：VT/VF心室心律不整｜副作用：低血壓、心搏過慢、傳導異常與神經毒性｜QTc不是主要監測指標。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【Lidocaine 7 大神經毒性警訊】嘴唇或舌頭麻木、耳鳴、頭暈、嗜睡、意識混亂、顫抖、抽搐癲癇！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【清除率警惕】肝功能不全或低心輸出狀態顯著降低 Lidocaine 清除率。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16 / 43</a:t>
            </a:r>
          </a:p>
        </p:txBody>
      </p:sp>
    </p:spTree>
  </p:cSld>
  <p:clrMapOvr>
    <a:masterClrMap/>
  </p:clrMapOvr>
</p:sld>
</file>

<file path=ppt/slides/slide17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bg><p:bgPr><a:solidFill><a:srgbClr val="F8FAFC"/></a:solidFill></p:bgPr></p:bg>
    <p:spTree>
      <p:nvGrpSpPr><p:cNvPr id="1" name=""/><p:cNvGrpSpPr/><p:nvPr/></p:nvGrpSpPr>
      <p:grpSpPr><a:xfrm><a:off x="0" y="0"/><a:ext cx="0" cy="0"/><a:chOff x="0" y="0"/><a:chExt cx="0" cy="0"/></a:xfrm></p:grpSpPr>
      
      <!-- Tag Badge -->
      <p:sp>
        <p:nvSpPr><p:cNvPr id="2" name="PartBadge"/><p:cNvSpPr/><p:nvPr/></p:nvSpPr>
        <p:spPr>
          <a:xfrm><a:off x="3896000" y="1400000"/><a:ext cx="4400000" cy="650000"/></a:xfrm></p:spPr>
          <a:prstGeom prst="roundRect"><a:avLst><a:gd name="adj" fmla="val 25000"/></a:avLst></a:prstGeom>
          <a:solidFill><a:srgbClr val="E0F2FE"/></a:solidFill>
          <a:ln w="19050"><a:solidFill><a:srgbClr val="0284C7"/></a:solidFill></a:ln>
        </p:spPr>
        <p:txBody><a:bodyPr anchor="ctr"/><a:lstStyle/><a:p><a:pPr algn="ctr"/><a:r><a:rPr lang="zh-TW" sz="1800" b="1"><a:solidFill><a:srgbClr val="0369A1"/></a:solidFill></a:rPr><a:t>PART 3</a:t></a:r></a:p></p:txBody>
      </p:sp>

      <!-- Main Title -->
      <p:sp>
        <p:nvSpPr><p:cNvPr id="3" name="Title"/><p:cNvSpPr txBox="1"/><p:nvPr/></p:nvSpPr>
        <p:spPr><a:xfrm><a:off x="800000" y="2300000"/><a:ext cx="10592000" cy="1500000"/></a:xfrm></p:spPr>
        <p:txBody><a:bodyPr/><a:lstStyle/><a:p><a:pPr algn="ctr"/><a:r><a:rPr lang="zh-TW" sz="4200" b="1"><a:solidFill><a:srgbClr val="0F172A"/></a:solidFill></a:rPr><a:t>鎮靜、止痛與肌肉鬆弛</a:t></a:r></a:p></p:txBody>
      </p:sp>

      <!-- Quote Box -->
      <p:sp>
        <p:nvSpPr><p:cNvPr id="4" name="Quote"/><p:cNvSpPr/><p:nvPr/></p:nvSpPr>
        <p:spPr>
          <a:xfrm><a:off x="1400000" y="4100000"/><a:ext cx="9392000" cy="1400000"/></a:xfrm></p:spPr>
          <a:prstGeom prst="roundRect"><a:avLst><a:gd name="adj" fmla="val 15000"/></a:avLst></a:prstGeom>
          <a:solidFill><a:srgbClr val="FFFFFF"/></a:solidFill>
          <a:ln w="25400"><a:solidFill><a:srgbClr val="0284C7"/></a:solidFill></a:ln>
        </p:spPr>
        <p:txBody><a:bodyPr anchor="ctr"/><a:lstStyle/><a:p><a:pPr algn="ctr"/><a:r><a:rPr lang="zh-TW" sz="2400" b="1"><a:solidFill><a:srgbClr val="0369A1"/></a:solidFill></a:rPr><a:t>「病人安靜了，但呼吸、循環與疼痛真的安全嗎？」</a:t></a:r></a:p></p:txBody>
      </p:sp>
    </p:spTree>
  </p:cSld>
  <p:clrMapOvr><a:masterClrMap/>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3｜鎮靜、止痛與肌肉鬆弛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18｜ICU常用鎮靜劑比較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Midazolam：起效快、順行性失憶｜呼吸抑制、低血壓、延遲甦醒、蓄積、增加譫妄。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Lorazepam：鎮靜、抗焦慮、抗癲癇｜呼吸抑制、低血壓｜特殊風險：丙二醇毒性。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Propofol：起效及恢復快速、易滴定｜低血壓、心搏過慢｜特殊風險：PRIS 輸注症候群。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Dexmedetomidine：容易喚醒、保留呼吸驅動｜心搏過慢、低血壓｜突然停藥戒斷反應。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【鎮靜 5 大原則】先止痛再鎮靜、設定目標 RASS、優先輕鎮靜、最低有效劑量、每日評估自主中斷喚醒。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18 / 43</a:t>
            </a:r>
          </a:p>
        </p:txBody>
      </p:sp>
    </p:spTree>
  </p:cSld>
  <p:clrMapOvr>
    <a:masterClrMap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3｜鎮靜、止痛與肌肉鬆弛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19｜Benzodiazepine合併Opioid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【核心警示】Benzodiazepine 與鴉片類止痛藥併用，會增加呼吸抑制、血壓過低與過度鎮靜風險！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【7 大監測】呼吸速率與型態、SpO2、EtCO2、意識與喚醒能力、RASS、血壓心率、最近追加與累積劑量。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【6 大立即回報】呼吸速率明顯下降(&lt;8-10次/分)、呼吸變淺、無法喚醒、血氧下降、二氧化碳滯留、血壓下降。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19 / 43</a:t>
            </a:r>
          </a:p>
        </p:txBody>
      </p:sp>
    </p:spTree>
  </p:cSld>
  <p:clrMapOvr>
    <a:masterClrMap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3｜鎮靜、止痛與肌肉鬆弛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20｜Lorazepam持續輸注：注意丙二醇蓄積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【4 大高風險情境】高劑量、長時間靜脈輸注(&gt;48-72h)、腎功能不全、同時使用其他含丙二醇製劑。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【7 大警訊】滲透壓間隙增加(Osmolar gap↑)、陰離子間隙增加(AG↑)、代謝性酸中毒、乳酸上升、急性腎損傷(AKI)、尿量下降、意識惡化。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【提醒】劑量與時間是風險因子，不是絕對診斷門檻；可疑即查 Osmolar gap。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20 / 43</a:t>
            </a:r>
          </a:p>
        </p:txBody>
      </p:sp>
    </p:spTree>
  </p:cSld>
  <p:clrMapOvr>
    <a:masterClrMap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3｜鎮靜、止痛與肌肉鬆弛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21｜Propofol Infusion Syndrome (PRIS)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【風險情境】高劑量(&gt;4-5 mg/kg/h)或長時間(&gt;48h)輸注、嚴重重症、合用兒茶酚胺或類固醇。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【9 大警訊】無法解釋的代謝性/乳酸酸中毒、肌酸激酶(CK)上升、橫紋肌溶解、高血鉀、心搏過慢、新發心律不整(Brugada樣)、急性心衰竭、循環崩潰、三酸甘油脂上升。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【監測】酸鹼狀態、乳酸、CK、血鉀、TG、心電圖與循環狀態；可疑即刻停藥！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21 / 43</a:t>
            </a:r>
          </a:p>
        </p:txBody>
      </p:sp>
    </p:spTree>
  </p:cSld>
  <p:clrMapOvr>
    <a:masterClrMap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3｜鎮靜、止痛與肌肉鬆弛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22｜Dexmedetomidine：病人容易喚醒，但仍要監測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特色：較容易維持輕鎮靜、病人通常可喚醒配合、較能保留呼吸驅動；【但仍不能免除呼吸道監測！】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重要副作用：心搏過慢、血壓下降、快速給藥短暫血壓升高、長期突然停藥戒斷反應(躁動/頻脈/高血壓)。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B91C1C"/>
                </a:solidFill>
              </a:rPr>
              <a:t>• 立即回報：心率明顯下降(HR&lt;50)、新發傳導阻滯、血壓下降合併灌流不良、無法解釋的意識/呼吸變化。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22 / 43</a:t>
            </a:r>
          </a:p>
        </p:txBody>
      </p:sp>
    </p:spTree>
  </p:cSld>
  <p:clrMapOvr>
    <a:masterClrMap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3｜鎮靜、止痛與肌肉鬆弛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23｜Fentanyl與Morphine比較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Fentanyl：起效快(1-2分)、組織胺釋放少對血壓穩定、無活性腎代謝物(腎不良首選)；快推注意胸壁僵硬。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Morphine：組織胺釋放造成低血壓、活性代謝物(M6G)於腎功能不全蓄積；注意延遲性鎮靜與呼吸抑制。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共同監測：疼痛評分、呼吸速率、意識與鎮靜程度、血壓、腸蠕動便秘、噁心與嘔吐。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23 / 43</a:t>
            </a:r>
          </a:p>
        </p:txBody>
      </p:sp>
    </p:spTree>
  </p:cSld>
  <p:clrMapOvr>
    <a:masterClrMap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3｜鎮靜、止痛與肌肉鬆弛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24｜腎功能不全患者使用Morphine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【臨床情境】腎功能惡化 ＋ 逐漸嗜睡 ＋ 呼吸速率下降。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【應考慮】Morphine 活性代謝物(M6G)蓄積、延遲甦醒、持續性呼吸抑制。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【護理觀察】意識變化(瞳孔縮小)、呼吸速率與深度、血氧與 PaCO2、腎功能及尿量、累積劑量。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【核心提醒】病人「叫不醒」不一定只是神經學惡化，也可能與藥物蓄積有關！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24 / 43</a:t>
            </a:r>
          </a:p>
        </p:txBody>
      </p:sp>
    </p:spTree>
  </p:cSld>
  <p:clrMapOvr>
    <a:masterClrMap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3｜鎮靜、止痛與肌肉鬆弛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25｜Ketamine與Parecoxib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Ketamine：止痛、鎮靜及解離性麻醉作用，【不是神經肌肉阻斷劑！】｜副作用：血壓及心率升高、唾液分泌增加、幻覺/惡夢/甦醒期躁動、噁心嘔吐。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Parecoxib：IV COX-2抑制劑｜副作用：急性腎損傷(AKI)、液體滯留、水腫、血壓升高、腸胃道出血及心血管血栓風險（CABG術後禁忌）。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25 / 43</a:t>
            </a:r>
          </a:p>
        </p:txBody>
      </p:sp>
    </p:spTree>
  </p:cSld>
  <p:clrMapOvr>
    <a:masterClrMap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3｜鎮靜、止痛與肌肉鬆弛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26｜Tramadol與血清素症候群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【高風險合併用藥】SSRI／SNRI、MAOI、Linezolid(Zyvox)、其他增加血清素藥物。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【11 項臨床表現】躁動/意識改變、大汗、心搏過速、血壓升高、體溫過高、腹瀉、顫抖、肌肉僵硬、抽搐；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【★ 最重要特徵】反射亢進（Hyperreflexia） 與 肌肉陣攣（Myoclonus）！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【核心提醒】肌肉陣攣與反射亢進，是辨識血清素症候群的重要線索！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26 / 43</a:t>
            </a:r>
          </a:p>
        </p:txBody>
      </p:sp>
    </p:spTree>
  </p:cSld>
  <p:clrMapOvr>
    <a:masterClrMap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3｜鎮靜、止痛與肌肉鬆弛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27｜神經肌肉阻斷劑比較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000" b="1">
                <a:solidFill>
                  <a:srgbClr val="B91C1C"/>
                </a:solidFill>
              </a:rPr>
              <a:t>• Succinylcholine：去極化型｜起效60-90秒/持續5-10分｜起效最快短效｜致命高血鉀、心搏過慢、惡性高熱、眼內壓↑｜快速插管RSI。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Rocuronium：非去極化型｜起效1-2分/持續30-60分｜高劑量起效快、循環平穩、具逆轉劑Sugammadex｜肝功能不全阻斷延長｜插管與肌鬆。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Atracurium：非去極化型｜起效2-3分/持續20-35分｜主要經Hofmann分解不依賴肝腎｜組織胺釋放/低血壓/支氣管痙攣/Laudanosine｜肝腎衰竭首選。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27 / 43</a:t>
            </a:r>
          </a:p>
        </p:txBody>
      </p:sp>
    </p:spTree>
  </p:cSld>
  <p:clrMapOvr>
    <a:masterClrMap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3｜鎮靜、止痛與肌肉鬆弛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28｜病人不動，不代表沒有疼痛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【使用肌鬆劑時】病人可能仍有意識！病人可能仍會感到疼痛！無法以動作判斷疼痛或鎮靜不足！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【必備原則】應先確保充分止痛與鎮靜！依院內流程監測神經肌肉阻斷程度(TOF)！持續眼睛保護、翻身與壓傷預防！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【核心訊息】Paralysis ≠ Sedation ≠ Analgesia（癱瘓 ≠ 鎮靜 ≠ 止痛）！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28 / 43</a:t>
            </a:r>
          </a:p>
        </p:txBody>
      </p:sp>
    </p:spTree>
  </p:cSld>
  <p:clrMapOvr>
    <a:masterClrMap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3｜鎮靜、止痛與肌肉鬆弛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29｜Succinylcholine與致命性高血鉀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【7 大高風險族群（受體上調禁用）】大面積燒傷急性期後、壓砸傷/多發創傷、脊髓損傷、運動神經元損傷、神經肌肉疾病、嚴重去神經支配、長期臥床肌肉失用。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【心電圖與臨床表現】血鉀快速驟升、心搏過慢、QRS波變寬(Sine-wave)、心室心律不整、心搏停止猝死！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【提醒】受體上調隨時間增加，危險期可達數週至數月，此類病人插管改用 Rocuronium！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29 / 43</a:t>
            </a:r>
          </a:p>
        </p:txBody>
      </p:sp>
    </p:spTree>
  </p:cSld>
  <p:clrMapOvr>
    <a:masterClrMap/>
  </p:clrMapOvr>
</p:sld>
</file>

<file path=ppt/slides/slide30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bg><p:bgPr><a:solidFill><a:srgbClr val="F8FAFC"/></a:solidFill></p:bgPr></p:bg>
    <p:spTree>
      <p:nvGrpSpPr><p:cNvPr id="1" name=""/><p:cNvGrpSpPr/><p:nvPr/></p:nvGrpSpPr>
      <p:grpSpPr><a:xfrm><a:off x="0" y="0"/><a:ext cx="0" cy="0"/><a:chOff x="0" y="0"/><a:chExt cx="0" cy="0"/></a:xfrm></p:grpSpPr>
      
      <!-- Tag Badge -->
      <p:sp>
        <p:nvSpPr><p:cNvPr id="2" name="PartBadge"/><p:cNvSpPr/><p:nvPr/></p:nvSpPr>
        <p:spPr>
          <a:xfrm><a:off x="3896000" y="1400000"/><a:ext cx="4400000" cy="650000"/></a:xfrm></p:spPr>
          <a:prstGeom prst="roundRect"><a:avLst><a:gd name="adj" fmla="val 25000"/></a:avLst></a:prstGeom>
          <a:solidFill><a:srgbClr val="E0F2FE"/></a:solidFill>
          <a:ln w="19050"><a:solidFill><a:srgbClr val="0284C7"/></a:solidFill></a:ln>
        </p:spPr>
        <p:txBody><a:bodyPr anchor="ctr"/><a:lstStyle/><a:p><a:pPr algn="ctr"/><a:r><a:rPr lang="zh-TW" sz="1800" b="1"><a:solidFill><a:srgbClr val="0369A1"/></a:solidFill></a:rPr><a:t>PART 4</a:t></a:r></a:p></p:txBody>
      </p:sp>

      <!-- Main Title -->
      <p:sp>
        <p:nvSpPr><p:cNvPr id="3" name="Title"/><p:cNvSpPr txBox="1"/><p:nvPr/></p:nvSpPr>
        <p:spPr><a:xfrm><a:off x="800000" y="2300000"/><a:ext cx="10592000" cy="1500000"/></a:xfrm></p:spPr>
        <p:txBody><a:bodyPr/><a:lstStyle/><a:p><a:pPr algn="ctr"/><a:r><a:rPr lang="zh-TW" sz="4200" b="1"><a:solidFill><a:srgbClr val="0F172A"/></a:solidFill></a:rPr><a:t>抗凝血與血栓溶解藥物</a:t></a:r></a:p></p:txBody>
      </p:sp>

      <!-- Quote Box -->
      <p:sp>
        <p:nvSpPr><p:cNvPr id="4" name="Quote"/><p:cNvSpPr/><p:nvPr/></p:nvSpPr>
        <p:spPr>
          <a:xfrm><a:off x="1400000" y="4100000"/><a:ext cx="9392000" cy="1400000"/></a:xfrm></p:spPr>
          <a:prstGeom prst="roundRect"><a:avLst><a:gd name="adj" fmla="val 15000"/></a:avLst></a:prstGeom>
          <a:solidFill><a:srgbClr val="FFFFFF"/></a:solidFill>
          <a:ln w="25400"><a:solidFill><a:srgbClr val="0284C7"/></a:solidFill></a:ln>
        </p:spPr>
        <p:txBody><a:bodyPr anchor="ctr"/><a:lstStyle/><a:p><a:pPr algn="ctr"/><a:r><a:rPr lang="zh-TW" sz="2400" b="1"><a:solidFill><a:srgbClr val="0369A1"/></a:solidFill></a:rPr><a:t>「看到明顯出血之前，血小板、血紅素與神經狀態可能已經提供警訊。」</a:t></a:r></a:p></p:txBody>
      </p:sp>
    </p:spTree>
  </p:cSld>
  <p:clrMapOvr><a:masterClrMap/>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4｜抗凝血與血栓溶解藥物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31｜Heparin、Enoxaparin與Urokinase比較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Heparin：非分段肝素｜主要監測 aPTT 或 anti-Xa、血紅素、血小板｜重要風險：出血、HIT。有解毒劑 Protamine。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Enoxaparin：低分子量肝素(LMWH)｜主要監測血紅素、血小板、腎功能｜重要風險：腎功能不全時蓄積及出血（Anti-Xa非常規監測）。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Urokinase：血栓溶解劑｜主要監測血紅素、出血部位、神經狀態(GCS/瞳孔)｜重要風險：重大出血、顱內出血(ICH)。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31 / 43</a:t>
            </a:r>
          </a:p>
        </p:txBody>
      </p:sp>
    </p:spTree>
  </p:cSld>
  <p:clrMapOvr>
    <a:masterClrMap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4｜抗凝血與血栓溶解藥物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32｜HIT：血小板還在正常範圍也不能排除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【6 大辨識要點】血小板較基準值下降&gt;50%、常於第5-10天發生、新發血栓或血栓惡化、注射處皮膚壞死、bolus後急性全身反應、排除感染DIC等原因。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【4Ts 評估英文字義（MDCalc）】① Thrombocytopenia（血小板降幅&gt;50%） ② Timing（第5-10天） ③ Thrombosis（新血栓/壞死） ④ oTher causes（排除其他原因）。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【核心提醒】HIT是促進血栓形成的免疫反應，不是單純出血性血小板低下！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【中高機率處置】立即回報、停所有Heparin來源、嚴禁輸血小板、換非肝素抗凝劑(如Argatroban)並送檢。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32 / 43</a:t>
            </a:r>
          </a:p>
        </p:txBody>
      </p:sp>
    </p:spTree>
  </p:cSld>
  <p:clrMapOvr>
    <a:masterClrMap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4｜抗凝血與血栓溶解藥物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33｜血栓溶解治療：重大出血警訊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【6 項護理觀察】穿刺處持續出血、牙齦/鼻腔出血、血尿、黑便/吐血、血紅素無故下降、血壓降或心跳快。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【6 大顱內出血(ICH)警訊】新發劇烈頭痛、意識改變、瞳孔變化(不等大)、單側肢體無力、新發語言障礙、抽搐癲癇！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【提醒】溶栓期間避免不必要動脈穿刺、肌肉注射及侵入性處置；疑似腦出血立停送 CT！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33 / 43</a:t>
            </a:r>
          </a:p>
        </p:txBody>
      </p:sp>
    </p:spTree>
  </p:cSld>
  <p:clrMapOvr>
    <a:masterClrMap/>
  </p:clrMapOvr>
</p:sld>
</file>

<file path=ppt/slides/slide34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bg><p:bgPr><a:solidFill><a:srgbClr val="F8FAFC"/></a:solidFill></p:bgPr></p:bg>
    <p:spTree>
      <p:nvGrpSpPr><p:cNvPr id="1" name=""/><p:cNvGrpSpPr/><p:nvPr/></p:nvGrpSpPr>
      <p:grpSpPr><a:xfrm><a:off x="0" y="0"/><a:ext cx="0" cy="0"/><a:chOff x="0" y="0"/><a:chExt cx="0" cy="0"/></a:xfrm></p:grpSpPr>
      
      <!-- Tag Badge -->
      <p:sp>
        <p:nvSpPr><p:cNvPr id="2" name="PartBadge"/><p:cNvSpPr/><p:nvPr/></p:nvSpPr>
        <p:spPr>
          <a:xfrm><a:off x="3896000" y="1400000"/><a:ext cx="4400000" cy="650000"/></a:xfrm></p:spPr>
          <a:prstGeom prst="roundRect"><a:avLst><a:gd name="adj" fmla="val 25000"/></a:avLst></a:prstGeom>
          <a:solidFill><a:srgbClr val="E0F2FE"/></a:solidFill>
          <a:ln w="19050"><a:solidFill><a:srgbClr val="0284C7"/></a:solidFill></a:ln>
        </p:spPr>
        <p:txBody><a:bodyPr anchor="ctr"/><a:lstStyle/><a:p><a:pPr algn="ctr"/><a:r><a:rPr lang="zh-TW" sz="1800" b="1"><a:solidFill><a:srgbClr val="0369A1"/></a:solidFill></a:rPr><a:t>PART 5</a:t></a:r></a:p></p:txBody>
      </p:sp>

      <!-- Main Title -->
      <p:sp>
        <p:nvSpPr><p:cNvPr id="3" name="Title"/><p:cNvSpPr txBox="1"/><p:nvPr/></p:nvSpPr>
        <p:spPr><a:xfrm><a:off x="800000" y="2300000"/><a:ext cx="10592000" cy="1500000"/></a:xfrm></p:spPr>
        <p:txBody><a:bodyPr/><a:lstStyle/><a:p><a:pPr algn="ctr"/><a:r><a:rPr lang="zh-TW" sz="4200" b="1"><a:solidFill><a:srgbClr val="0F172A"/></a:solidFill></a:rPr><a:t>看到異常，要想到可能是藥物</a:t></a:r></a:p></p:txBody>
      </p:sp>

      <!-- Quote Box -->
      <p:sp>
        <p:nvSpPr><p:cNvPr id="4" name="Quote"/><p:cNvSpPr/><p:nvPr/></p:nvSpPr>
        <p:spPr>
          <a:xfrm><a:off x="1400000" y="4100000"/><a:ext cx="9392000" cy="1400000"/></a:xfrm></p:spPr>
          <a:prstGeom prst="roundRect"><a:avLst><a:gd name="adj" fmla="val 15000"/></a:avLst></a:prstGeom>
          <a:solidFill><a:srgbClr val="FFFFFF"/></a:solidFill>
          <a:ln w="25400"><a:solidFill><a:srgbClr val="0284C7"/></a:solidFill></a:ln>
        </p:spPr>
        <p:txBody><a:bodyPr anchor="ctr"/><a:lstStyle/><a:p><a:pPr algn="ctr"/><a:r><a:rPr lang="zh-TW" sz="2400" b="1"><a:solidFill><a:srgbClr val="0369A1"/></a:solidFill></a:rPr><a:t>「看到異常，要想到可能是藥物！前半段從藥物出發；接下來從病人的異常，反推可能相關藥物。」</a:t></a:r></a:p></p:txBody>
      </p:sp>
    </p:spTree>
  </p:cSld>
  <p:clrMapOvr><a:masterClrMap/>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5｜看到異常，要想到可能是藥物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35｜抗生素常見高風險不良反應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Linezolid：血小板下降、骨髓抑制、血清素症候群｜觀察出血、瘀青、陣攣、血球計數。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Vancomycin：急性腎損傷(AKI)、輸注反應(紅人症)｜觀察尿量、肌酸酐、潮紅搔癢。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Cefoperazone：PT／INR 延長、出血｜觀察注射處滲血、血尿、黑便。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Macrolide／Fluoroquinolone：QT延長、心室心律不整(TdP)｜觀察心悸、暈厥、ECG與電解質。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β-lactam (如 Cefepime)：中樞神經毒性(腎不全高危)｜觀察意識改變、抽動、顫抖、抽搐。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【核心訊息】抗生素副作用不只紅疹腹瀉，凝血、心電圖、神經或腎功能異常都要警戒！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35 / 43</a:t>
            </a:r>
          </a:p>
        </p:txBody>
      </p:sp>
    </p:spTree>
  </p:cSld>
  <p:clrMapOvr>
    <a:masterClrMap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5｜看到異常，要想到可能是藥物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36｜哪些藥物會造成凝血異常？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血小板下降：Heparin(HIT)、Linezolid(骨髓抑制)、Vancomycin(免疫性低下)、部分β-lactam。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PT／INR 延長：Cefoperazone、Warfarin、維生素K不足(NPO)、嚴重肝功能異常。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直接增加出血：Heparin、Enoxaparin、Urokinase、多種抗血小板/抗凝血藥物併用。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【Cefoperazone 高風險情境】營養不良、維生素K攝取不足、膽道或肝病、長時間抗生素、重症狀態、併用抗凝劑。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【處置】Vitamin K 是否補充依檢驗、出血風險與院內流程決定。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36 / 43</a:t>
            </a:r>
          </a:p>
        </p:txBody>
      </p:sp>
    </p:spTree>
  </p:cSld>
  <p:clrMapOvr>
    <a:masterClrMap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5｜看到異常，要想到可能是藥物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37｜哪些藥物可能延長QT？（直接延長 vs 低鉀間接促發）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【明確延長 QT／TdP 風險藥物】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抗心律不整：Amiodarone。    • 止吐與腸胃：Ondansetron、Droperidol、Metoclopramide。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抗感染：Macrolides(Azithro)、Fluoroquinolones(Levo/Moxi)、Azoles抗黴菌(Fluconazole)。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精神科與鎮靜：Haloperidol、Ziprasidone、Quetiapine。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【間接風險（低鉀/低鎂催化）】Loop利尿劑、Thiazide、Amphotericin B。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【重要例外】Isavuconazole 會「縮短 QT」，短 QT 症候群禁用！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【本頁總結】TdP 風險是「QT藥物＋心搏過慢＋低鉀鎂＋藥物蓄積」共同形成的完美風暴！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37 / 43</a:t>
            </a:r>
          </a:p>
        </p:txBody>
      </p:sp>
    </p:spTree>
  </p:cSld>
  <p:clrMapOvr>
    <a:masterClrMap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5｜看到異常，要想到可能是藥物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38｜什麼情況下QT特別危險？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【高風險組合】多種QT藥物併用、低血鉀、低血鎂、低血鈣、心搏過慢、女性、高齡、心衰竭/缺血、肝腎不全、藥物蓄積。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【提高警覺指標】QTc ≥ 500 ms、較基準值增加 ≥ 60 ms、新發 VPC、短暫多型性 VT、心悸/暈厥。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【處置 5 步驟 SOP】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1. 確認心電圖與 QTc。    2. 檢視所有延長 QT 藥物。    3. 檢查並矯正血鉀、血鎂與血鈣。</a:t>
            </a:r>
          </a:p>
          <a:p>
            <a:pPr marL="288000" indent="-288000" spaceBefore="60000" spaceAfter="60000"/>
            <a:r>
              <a:rPr lang="zh-TW" sz="2000" b="0">
                <a:solidFill>
                  <a:srgbClr val="B91C1C"/>
                </a:solidFill>
              </a:rPr>
              <a:t>4. 評估心搏過慢及藥物蓄積。    5. 明顯異常時立即回報醫師並備妥除顫器！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38 / 43</a:t>
            </a:r>
          </a:p>
        </p:txBody>
      </p:sp>
    </p:spTree>
  </p:cSld>
  <p:clrMapOvr>
    <a:masterClrMap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5｜看到異常，要想到可能是藥物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39｜輸注反應、過敏與嚴重皮膚反應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Vancomycin 輸注反應（紅人症）：與輸注速率相關｜臉、頸或上半身潮紅、搔癢、紅疹、胸背不適、血壓降｜處置：減慢輸注速率(≥60分鐘)。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嚴重過敏反應（Anaphylaxis）：蕁麻疹、嘴唇/舌/喉部腫脹、喘鳴、呼吸困難、血壓下降休克、意識改變｜首選肌注 Epinephrine！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【核心提醒】嚴重過敏反應可能沒有皮膚症狀，不能只靠有無紅疹判斷！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39 / 43</a:t>
            </a:r>
          </a:p>
        </p:txBody>
      </p:sp>
    </p:spTree>
  </p:cSld>
  <p:clrMapOvr>
    <a:masterClrMap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PART 5｜看到異常，要想到可能是藥物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40｜看到紅疹，如何判斷嚴重度？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較低風險表現：局部或輕微紅疹、輕微搔癢、生命徵象穩定、無黏膜或器官侵犯。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B91C1C"/>
                </a:solidFill>
              </a:rPr>
              <a:t>• 嚴重紅疹 10 大警訊：皮膚疼痛、臉部水腫、黏膜糜爛(口眼生殖器)、水泡、表皮剝離、發燒、呼吸困難、血壓降、嗜酸球增加、肝腎肺功能異常。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嚴重疾病：嚴重過敏反應、DRESS、Stevens-Johnson syndrome (SJS)、Toxic epidermal necrolysis (TEN)。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【核心訊息】紅疹合併黏膜侵犯、臉部水腫或器官功能異常，不是單純皮膚過敏！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40 / 43</a:t>
            </a:r>
          </a:p>
        </p:txBody>
      </p:sp>
    </p:spTree>
  </p:cSld>
  <p:clrMapOvr>
    <a:masterClrMap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整合應用與總結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41｜看到這些異常，你會想到哪個藥？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情境一：Heparin使用第6天，血小板由22萬降至9萬／mm³ → 跌幅&gt;50%，懷疑 HIT！評估4Ts立報停肝素。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情境二：使用Amiodarone及Levofloxacin，QTc 525 ms，血鉀3.1 mmol/L → 多重QT藥＋低血鉀致TdP高危！檢視藥物立報補鉀。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情境三：Propofol持續輸注後乳酸上升、代謝酸、CK飆高、心搏過慢 → 懷疑 PRIS！立報停藥評估替代鎮靜。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情境四：抗生素後發燒、臉水腫、全身皮疹、嗜酸球增加、肝功能異常 → 懷疑 DRESS 症候群！立報評估停藥。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41 / 43</a:t>
            </a:r>
          </a:p>
        </p:txBody>
      </p:sp>
    </p:spTree>
  </p:cSld>
  <p:clrMapOvr>
    <a:masterClrMap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/ Header -->
      <p:sp>
        <p:nvSpPr>
          <p:cNvPr id="2" name="Tag"/>
          <p:cNvSpPr txBox="1"/>
          <p:nvPr/>
        </p:nvSpPr>
        <p:spPr>
          <a:xfrm>
            <a:off x="650000" y="380000"/>
            <a:ext cx="10892000" cy="380000"/>
          </a:xfrm>
        </p:spPr>
        <p:txBody>
          <a:bodyPr/>
          <a:lstStyle/>
          <a:p>
            <a:r>
              <a:rPr lang="zh-TW" sz="1500" b="1">
                <a:solidFill>
                  <a:srgbClr val="0284C7"/>
                </a:solidFill>
              </a:rPr>
              <a:t>整合應用與總結</a:t>
            </a:r>
          </a:p>
        </p:txBody>
      </p:sp>
      <!-- Slide Title -->
      <p:sp>
        <p:nvSpPr>
          <p:cNvPr id="3" name="Title"/>
          <p:cNvSpPr txBox="1"/>
          <p:nvPr/>
        </p:nvSpPr>
        <p:spPr>
          <a:xfrm>
            <a:off x="650000" y="760000"/>
            <a:ext cx="10892000" cy="650000"/>
          </a:xfrm>
        </p:spPr>
        <p:txBody>
          <a:bodyPr/>
          <a:lstStyle/>
          <a:p>
            <a:r>
              <a:rPr lang="zh-TW" sz="3000" b="1">
                <a:solidFill>
                  <a:srgbClr val="0F172A"/>
                </a:solidFill>
              </a:rPr>
              <a:t>Slide 42｜總結：帶回臨床的藥物安全檢查</a:t>
            </a:r>
          </a:p>
        </p:txBody>
      </p:sp>
      <!-- Content Card Surface -->
      <p:sp>
        <p:nvSpPr>
          <p:cNvPr id="4" name="CardBg"/>
          <p:cNvSpPr/>
          <p:nvPr/>
        </p:nvSpPr>
        <p:spPr>
          <a:xfrm>
            <a:off x="650000" y="1480000"/>
            <a:ext cx="10892000" cy="47500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22225">
            <a:solidFill>
              <a:srgbClr val="CBD5E1"/>
            </a:solidFill>
          </a:ln>
        </p:spPr>
        <p:txBody>
          <a:bodyPr bIns="220000" lIns="300000" rIns="300000" tIns="240000" anchor="ctr"/>
          <a:lstStyle/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【五項病人變化】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1. 血壓、心率與器官灌流。    2. 意識、鎮靜深度與呼吸。    3. 心電圖與 QTc。</a:t>
            </a:r>
          </a:p>
          <a:p>
            <a:pPr marL="288000" indent="-288000" spaceBefore="60000" spaceAfter="60000"/>
            <a:r>
              <a:rPr lang="zh-TW" sz="2000" b="0">
                <a:solidFill>
                  <a:srgbClr val="1E293B"/>
                </a:solidFill>
              </a:rPr>
              <a:t>4. 血小板、血紅素、PT 與 INR。    5. 皮膚、黏膜與過敏表現。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【四項用藥確認】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適應症：為什麼使用？    • 管路：從哪條管路給藥？</a:t>
            </a:r>
          </a:p>
          <a:p>
            <a:pPr marL="288000" indent="-288000" spaceBefore="60000" spaceAfter="60000"/>
            <a:r>
              <a:rPr lang="zh-TW" sz="2000" b="1">
                <a:solidFill>
                  <a:srgbClr val="1E293B"/>
                </a:solidFill>
              </a:rPr>
              <a:t>• 趨勢：數值及症狀如何變化？    • 救援處置：異常時如何暫停、處理與回報？</a:t>
            </a:r>
          </a:p>
          <a:p>
            <a:pPr marL="288000" indent="-288000" spaceBefore="60000" spaceAfter="60000"/>
            <a:r>
              <a:rPr lang="zh-TW" sz="2200" b="1">
                <a:solidFill>
                  <a:srgbClr val="0284C7"/>
                </a:solidFill>
              </a:rPr>
              <a:t>【結尾】知道為什麼給、給完看什麼、異常時立即辨識與回報！</a:t>
            </a:r>
          </a:p>
        </p:txBody>
      </p:sp>
      <!-- Slide number bottom right -->
      <p:sp>
        <p:nvSpPr>
          <p:cNvPr id="5" name="SlideNum"/>
          <p:cNvSpPr txBox="1"/>
          <p:nvPr/>
        </p:nvSpPr>
        <p:spPr>
          <a:xfrm>
            <a:off x="10600000" y="6300000"/>
            <a:ext cx="942000" cy="400000"/>
          </a:xfrm>
        </p:spPr>
        <p:txBody>
          <a:bodyPr/>
          <a:lstStyle/>
          <a:p>
            <a:pPr algn="r"/>
            <a:r>
              <a:rPr lang="zh-TW" sz="1400" b="1">
                <a:solidFill>
                  <a:srgbClr val="94A3B8"/>
                </a:solidFill>
              </a:rPr>
              <a:t>42 / 43</a:t>
            </a:r>
          </a:p>
        </p:txBody>
      </p:sp>
    </p:spTree>
  </p:cSld>
  <p:clrMapOvr>
    <a:masterClrMap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ag Box -->
      <p:sp>
        <p:nvSpPr>
          <p:cNvPr id="2" name="Tag"/>
          <p:cNvSpPr txBox="1"/>
          <p:nvPr/>
        </p:nvSpPr>
        <p:spPr>
          <a:xfrm>
            <a:off x="800000" y="900000"/>
            <a:ext cx="10592000" cy="500000"/>
          </a:xfrm>
        </p:spPr>
        <p:txBody>
          <a:bodyPr/>
          <a:lstStyle/>
          <a:p>
            <a:r>
              <a:rPr lang="zh-TW" sz="1600" b="1">
                <a:solidFill>
                  <a:srgbClr val="0284C7"/>
                </a:solidFill>
              </a:rPr>
              <a:t>● Q &amp; A • THANK YOU</a:t>
            </a:r>
          </a:p>
        </p:txBody>
      </p:sp>
      <!-- Title Box -->
      <p:sp>
        <p:nvSpPr>
          <p:cNvPr id="3" name="Title"/>
          <p:cNvSpPr txBox="1"/>
          <p:nvPr/>
        </p:nvSpPr>
        <p:spPr>
          <a:xfrm>
            <a:off x="800000" y="1500000"/>
            <a:ext cx="10592000" cy="2400000"/>
          </a:xfrm>
        </p:spPr>
        <p:txBody>
          <a:bodyPr/>
          <a:lstStyle/>
          <a:p>
            <a:r>
              <a:rPr lang="zh-TW" sz="4400" b="1">
                <a:solidFill>
                  <a:srgbClr val="0F172A"/>
                </a:solidFill>
              </a:rPr>
              <a:t>感謝聆聽 • 守護加護病房用藥安全</a:t>
            </a:r>
          </a:p>
          <a:p>
            <a:r>
              <a:rPr lang="zh-TW" sz="2400" b="1">
                <a:solidFill>
                  <a:srgbClr val="334155"/>
                </a:solidFill>
              </a:rPr>
              <a:t>Q &amp; A • 討論與學習總結</a:t>
            </a:r>
          </a:p>
        </p:txBody>
      </p:sp>
      <!-- Meta Box -->
      <p:sp>
        <p:nvSpPr>
          <p:cNvPr id="4" name="Meta"/>
          <p:cNvSpPr txBox="1"/>
          <p:nvPr/>
        </p:nvSpPr>
        <p:spPr>
          <a:xfrm>
            <a:off x="800000" y="4300000"/>
            <a:ext cx="10592000" cy="800000"/>
          </a:xfrm>
        </p:spPr>
        <p:txBody>
          <a:bodyPr/>
          <a:lstStyle/>
          <a:p>
            <a:r>
              <a:rPr lang="zh-TW" sz="2000" b="1">
                <a:solidFill>
                  <a:srgbClr val="0369A1"/>
                </a:solidFill>
              </a:rPr>
              <a:t>主講人：李芸瑄 藥師 • 2026.09.09 • 敬請指教</a:t>
            </a:r>
          </a:p>
        </p:txBody>
      </p:sp>
      <!-- Core Message Banner -->
      <p:sp>
        <p:nvSpPr>
          <p:cNvPr id="5" name="Core"/>
          <p:cNvSpPr/>
          <p:nvPr/>
        </p:nvSpPr>
        <p:spPr>
          <a:xfrm>
            <a:off x="800000" y="5300000"/>
            <a:ext cx="10592000" cy="800000"/>
          </a:xfrm>
          <a:prstGeom prst="roundRect">
            <a:avLst>
              <a:gd name="adj" fmla="val 20000"/>
            </a:avLst>
          </a:prstGeom>
          <a:solidFill>
            <a:srgbClr val="F0F9FF"/>
          </a:solidFill>
          <a:ln w="25400">
            <a:solidFill>
              <a:srgbClr val="0284C7"/>
            </a:solidFill>
          </a:ln>
        </p:spPr>
        <p:txBody>
          <a:bodyPr anchor="ctr"/>
          <a:lstStyle/>
          <a:p>
            <a:pPr algn="ctr"/>
            <a:r>
              <a:rPr lang="zh-TW" sz="2000" b="1">
                <a:solidFill>
                  <a:srgbClr val="0369A1"/>
                </a:solidFill>
              </a:rPr>
              <a:t>知道為什麼給、給完看什麼、異常時立即辨識與回報！</a:t>
            </a:r>
          </a:p>
        </p:txBody>
      </p:sp>
    </p:spTree>
  </p:cSld>
  <p:clrMapOvr>
    <a:masterClrMap/>
  </p:clrMapOvr>
</p:sld>
</file>

<file path=ppt/theme/theme1.xml><?xml version="1.0" encoding="utf-8"?>
<a:theme xmlns:a="http://schemas.openxmlformats.org/drawingml/2006/main" name="Medical White Theme">
  <a:themeElements>
    <a:clrScheme name="Medical Clinical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0284C7"/>
      </a:accent1>
      <a:accent2>
        <a:srgbClr val="0D9488"/>
      </a:accent2>
      <a:accent3>
        <a:srgbClr val="DC2626"/>
      </a:accent3>
      <a:accent4>
        <a:srgbClr val="D97706"/>
      </a:accent4>
      <a:accent5>
        <a:srgbClr val="16A34A"/>
      </a:accent5>
      <a:accent6>
        <a:srgbClr val="7C3AED"/>
      </a:accent6>
      <a:hlink>
        <a:srgbClr val="0284C7"/>
      </a:hlink>
      <a:folHlink>
        <a:srgbClr val="64748B"/>
      </a:folHlink>
    </a:clrScheme>
    <a:fontScheme name="Modern Sans">
      <a:majorFont>
        <a:latin typeface="Arial"/>
        <a:ea typeface="Noto Sans TC"/>
      </a:majorFont>
      <a:minorFont>
        <a:latin typeface="Arial"/>
        <a:ea typeface="Noto Sans T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